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
  <Relationship Id="rId1" Type="http://schemas.openxmlformats.org/officeDocument/2006/relationships/officeDocument" Target="ppt/presentation.xml"/>
  <Relationship Id="rId2" Type="http://schemas.openxmlformats.org/package/2006/relationships/metadata/core-properties" Target="docProps/core.xml"/>
  <Relationship Id="rId3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6858000" cy="12191695" type="custom"/>
  <p:notesSz cx="6858000" cy="9144000"/>
</p:presentation>
</file>

<file path=ppt/_rels/presentation.xml.rels><?xml version="1.0" encoding="UTF-8" standalone="yes"?>
<Relationships xmlns="http://schemas.openxmlformats.org/package/2006/relationships"><Relationship Id="rIdTheme" Type="http://schemas.openxmlformats.org/officeDocument/2006/relationships/theme" Target="theme/theme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/Relationships>
</file>

<file path=ppt/slides/_rels/slide1.xml.rels><?xml version="1.0" encoding="UTF-8" standalone="yes"?>
<Relationships xmlns="http://schemas.openxmlformats.org/package/2006/relationships"/>
</file>

<file path=ppt/slides/_rels/slide2.xml.rels><?xml version="1.0" encoding="UTF-8" standalone="yes"?>
<Relationships xmlns="http://schemas.openxmlformats.org/package/2006/relationships"/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image" Target="../media/01-mobile-login.png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image" Target="../media/02-mobile-backup-upload.pn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image" Target="../media/02a-mobile-backup-ringkasan.pn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image" Target="../media/02b-mobile-backup-upload-area.pn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image" Target="../media/05a-mobile-filter-backup-empty.png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image" Target="../media/03a-mobile-file-saya-list.pn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image" Target="../media/04a-mobile-filter-foto-grid.pn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image" Target="../media/05a-mobile-filter-backup-empty.png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image" Target="../media/04a-mobile-filter-foto-grid.png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image" Target="../media/06a-mobile-sbr-daftar-usaha.png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image" Target="../media/06b-mobile-sbr-table-detail.png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image" Target="../media/07a-mobile-sbr-search-results.png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image" Target="../media/06b-mobile-sbr-table-detail.png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image" Target="../media/08-mobile-tanya-kondef.png"/>
</Relationships>
</file>

<file path=ppt/slides/_rels/slide17.xml.rels><?xml version="1.0" encoding="UTF-8" standalone="yes"?>
<Relationships xmlns="http://schemas.openxmlformats.org/package/2006/relationships"/>
</file>

<file path=ppt/slides/_rels/slide18.xml.rels><?xml version="1.0" encoding="UTF-8" standalone="yes"?>
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201168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050">
                <a:solidFill>
                  <a:srgbClr val="B45309"/>
                </a:solidFill>
                <a:b/>
              </a:rPr>
              <a:t>PANDUAN MOBILE PETUGAS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320040" y="548640"/>
            <a:ext cx="6217920" cy="530352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2350">
                <a:solidFill>
                  <a:srgbClr val="1F2937"/>
                </a:solidFill>
                <a:b/>
              </a:rPr>
              <a:t>ASISTEN SE2026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38912" y="1417320"/>
            <a:ext cx="5980176" cy="8961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18000" tIns="65000" rIns="118000" bIns="65000"/>
          <a:lstStyle/>
          <a:p>
            <a:r>
              <a:rPr lang="id-ID" sz="1700">
                <a:solidFill>
                  <a:srgbClr val="1F2937"/>
                </a:solidFill>
              </a:rPr>
              <a:t>Panduan mobile khusus Petugas</a:t>
            </a:r>
          </a:p>
          <a:p/>
          <a:p>
            <a:r>
              <a:rPr lang="id-ID" sz="1700">
                <a:solidFill>
                  <a:srgbClr val="1F2937"/>
                </a:solidFill>
              </a:rPr>
              <a:t>Isi panduan:</a:t>
            </a:r>
          </a:p>
          <a:p>
            <a:pPr marL="228600" indent="-137160">
              <a:buChar char="•"/>
            </a:pPr>
            <a:r>
              <a:rPr lang="id-ID" sz="1700">
                <a:solidFill>
                  <a:srgbClr val="1F2937"/>
                </a:solidFill>
              </a:rPr>
              <a:t>Login aplikasi</a:t>
            </a:r>
          </a:p>
          <a:p>
            <a:pPr marL="228600" indent="-137160">
              <a:buChar char="•"/>
            </a:pPr>
            <a:r>
              <a:rPr lang="id-ID" sz="1700">
                <a:solidFill>
                  <a:srgbClr val="1F2937"/>
                </a:solidFill>
              </a:rPr>
              <a:t>Navigasi mobile</a:t>
            </a:r>
          </a:p>
          <a:p>
            <a:pPr marL="228600" indent="-137160">
              <a:buChar char="•"/>
            </a:pPr>
            <a:r>
              <a:rPr lang="id-ID" sz="1700">
                <a:solidFill>
                  <a:srgbClr val="1F2937"/>
                </a:solidFill>
              </a:rPr>
              <a:t>Backup foto laporan</a:t>
            </a:r>
          </a:p>
          <a:p>
            <a:pPr marL="228600" indent="-137160">
              <a:buChar char="•"/>
            </a:pPr>
            <a:r>
              <a:rPr lang="id-ID" sz="1700">
                <a:solidFill>
                  <a:srgbClr val="1F2937"/>
                </a:solidFill>
              </a:rPr>
              <a:t>Backup file data</a:t>
            </a:r>
          </a:p>
          <a:p>
            <a:pPr marL="228600" indent="-137160">
              <a:buChar char="•"/>
            </a:pPr>
            <a:r>
              <a:rPr lang="id-ID" sz="1700">
                <a:solidFill>
                  <a:srgbClr val="1F2937"/>
                </a:solidFill>
              </a:rPr>
              <a:t>File Saya, pencarian, filter, dan aksi file</a:t>
            </a:r>
          </a:p>
          <a:p>
            <a:pPr marL="228600" indent="-137160">
              <a:buChar char="•"/>
            </a:pPr>
            <a:r>
              <a:rPr lang="id-ID" sz="1700">
                <a:solidFill>
                  <a:srgbClr val="1F2937"/>
                </a:solidFill>
              </a:rPr>
              <a:t>Monitoring SBR dan update status usaha</a:t>
            </a:r>
          </a:p>
          <a:p>
            <a:pPr marL="228600" indent="-137160">
              <a:buChar char="•"/>
            </a:pPr>
            <a:r>
              <a:rPr lang="id-ID" sz="1700">
                <a:solidFill>
                  <a:srgbClr val="1F2937"/>
                </a:solidFill>
              </a:rPr>
              <a:t>Tanya KonDef</a:t>
            </a:r>
          </a:p>
          <a:p/>
          <a:p>
            <a:r>
              <a:rPr lang="id-ID" sz="1700">
                <a:solidFill>
                  <a:srgbClr val="1F2937"/>
                </a:solidFill>
              </a:rPr>
              <a:t>Dibuat berdasarkan tampilan mobile aplikasi.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320040" y="11850624"/>
            <a:ext cx="6217920" cy="109728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18000" tIns="65000" rIns="118000" bIns="6500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201168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050">
                <a:solidFill>
                  <a:srgbClr val="B45309"/>
                </a:solidFill>
                <a:b/>
              </a:rPr>
              <a:t>PANDUAN MOBILE PETUGAS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320040" y="548640"/>
            <a:ext cx="6217920" cy="530352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2350">
                <a:solidFill>
                  <a:srgbClr val="1F2937"/>
                </a:solidFill>
                <a:b/>
              </a:rPr>
              <a:t>Tujuan Petugas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38912" y="1417320"/>
            <a:ext cx="5980176" cy="8961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18000" tIns="65000" rIns="118000" bIns="65000"/>
          <a:lstStyle/>
          <a:p>
            <a:r>
              <a:rPr lang="id-ID" sz="1700">
                <a:solidFill>
                  <a:srgbClr val="1F2937"/>
                </a:solidFill>
              </a:rPr>
              <a:t>Tujuan penggunaan aplikasi bagi Petugas:</a:t>
            </a:r>
          </a:p>
          <a:p>
            <a:pPr marL="228600" indent="-137160">
              <a:buChar char="•"/>
            </a:pPr>
            <a:r>
              <a:rPr lang="id-ID" sz="1700">
                <a:solidFill>
                  <a:srgbClr val="1F2937"/>
                </a:solidFill>
              </a:rPr>
              <a:t>Menyimpan foto laporan ke Google Drive pribadi.</a:t>
            </a:r>
          </a:p>
          <a:p>
            <a:pPr marL="228600" indent="-137160">
              <a:buChar char="•"/>
            </a:pPr>
            <a:r>
              <a:rPr lang="id-ID" sz="1700">
                <a:solidFill>
                  <a:srgbClr val="1F2937"/>
                </a:solidFill>
              </a:rPr>
              <a:t>Menyimpan file backup kegiatan SE2026.</a:t>
            </a:r>
          </a:p>
          <a:p>
            <a:pPr marL="228600" indent="-137160">
              <a:buChar char="•"/>
            </a:pPr>
            <a:r>
              <a:rPr lang="id-ID" sz="1700">
                <a:solidFill>
                  <a:srgbClr val="1F2937"/>
                </a:solidFill>
              </a:rPr>
              <a:t>Melihat file yang sudah diunggah.</a:t>
            </a:r>
          </a:p>
          <a:p>
            <a:pPr marL="228600" indent="-137160">
              <a:buChar char="•"/>
            </a:pPr>
            <a:r>
              <a:rPr lang="id-ID" sz="1700">
                <a:solidFill>
                  <a:srgbClr val="1F2937"/>
                </a:solidFill>
              </a:rPr>
              <a:t>Memantau daftar usaha SBR sesuai wilayah tugas.</a:t>
            </a:r>
          </a:p>
          <a:p>
            <a:pPr marL="228600" indent="-137160">
              <a:buChar char="•"/>
            </a:pPr>
            <a:r>
              <a:rPr lang="id-ID" sz="1700">
                <a:solidFill>
                  <a:srgbClr val="1F2937"/>
                </a:solidFill>
              </a:rPr>
              <a:t>Memperbarui status usaha berdasarkan kondisi lapangan.</a:t>
            </a:r>
          </a:p>
          <a:p>
            <a:pPr marL="228600" indent="-137160">
              <a:buChar char="•"/>
            </a:pPr>
            <a:r>
              <a:rPr lang="id-ID" sz="1700">
                <a:solidFill>
                  <a:srgbClr val="1F2937"/>
                </a:solidFill>
              </a:rPr>
              <a:t>Membuka Tanya KonDef untuk rujukan konsep dan definisi.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320040" y="11850624"/>
            <a:ext cx="6217920" cy="109728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18000" tIns="65000" rIns="118000" bIns="6500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201168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050">
                <a:solidFill>
                  <a:srgbClr val="B45309"/>
                </a:solidFill>
                <a:b/>
              </a:rPr>
              <a:t>PANDUAN MOBILE PETUGAS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320040" y="548640"/>
            <a:ext cx="6217920" cy="530352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2350">
                <a:solidFill>
                  <a:srgbClr val="1F2937"/>
                </a:solidFill>
                <a:b/>
              </a:rPr>
              <a:t>Login Mobile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320040" y="1124712"/>
            <a:ext cx="6217920" cy="1572768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250">
                <a:solidFill>
                  <a:srgbClr val="1F2937"/>
                </a:solidFill>
              </a:rPr>
              <a:t>Langkah login: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Buka link aplikasi di browser HP.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Tekan Masuk dengan Google.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Pilih akun Google yang terdaftar.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Berikan izin akses jika diminta.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Setelah berhasil, pengguna masuk ke menu Backup.</a:t>
            </a:r>
          </a:p>
        </p:txBody>
      </p:sp>
      <p:pic>
        <p:nvPicPr>
          <p:cNvPr id="5" name="Mobile Screenshot 5"/>
          <p:cNvPicPr/>
          <p:nvPr/>
        </p:nvPicPr>
        <p:blipFill>
          <a:blip r:embed="rId1"/>
          <a:stretch>
            <a:fillRect/>
          </a:stretch>
        </p:blipFill>
        <p:spPr>
          <a:xfrm>
            <a:off x="1331481" y="2743200"/>
            <a:ext cx="4204181" cy="9098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Text 6"/>
          <p:cNvSpPr txBox="1"/>
          <p:nvPr/>
        </p:nvSpPr>
        <p:spPr>
          <a:xfrm>
            <a:off x="320040" y="11850624"/>
            <a:ext cx="6217920" cy="109728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18000" tIns="65000" rIns="118000" bIns="6500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201168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050">
                <a:solidFill>
                  <a:srgbClr val="B45309"/>
                </a:solidFill>
                <a:b/>
              </a:rPr>
              <a:t>PANDUAN MOBILE PETUGAS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320040" y="548640"/>
            <a:ext cx="6217920" cy="530352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2350">
                <a:solidFill>
                  <a:srgbClr val="1F2937"/>
                </a:solidFill>
                <a:b/>
              </a:rPr>
              <a:t>Navigasi Mobile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320040" y="1124712"/>
            <a:ext cx="6217920" cy="1572768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250">
                <a:solidFill>
                  <a:srgbClr val="1F2937"/>
                </a:solidFill>
              </a:rPr>
              <a:t>Di HP tersedia dua navigasi: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Tombol menu di kiri atas untuk membuka sidebar.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Navigasi bawah untuk pindah cepat ke Backup, SBR, dan Tanya.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Menu aktif ditandai warna oranye.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Gunakan navigasi bawah saat bekerja cepat di lapangan.</a:t>
            </a:r>
          </a:p>
        </p:txBody>
      </p:sp>
      <p:pic>
        <p:nvPicPr>
          <p:cNvPr id="5" name="Mobile Screenshot 5"/>
          <p:cNvPicPr/>
          <p:nvPr/>
        </p:nvPicPr>
        <p:blipFill>
          <a:blip r:embed="rId1"/>
          <a:stretch>
            <a:fillRect/>
          </a:stretch>
        </p:blipFill>
        <p:spPr>
          <a:xfrm>
            <a:off x="1331481" y="2743200"/>
            <a:ext cx="4204181" cy="9098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Text 6"/>
          <p:cNvSpPr txBox="1"/>
          <p:nvPr/>
        </p:nvSpPr>
        <p:spPr>
          <a:xfrm>
            <a:off x="320040" y="11850624"/>
            <a:ext cx="6217920" cy="109728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18000" tIns="65000" rIns="118000" bIns="6500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201168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050">
                <a:solidFill>
                  <a:srgbClr val="B45309"/>
                </a:solidFill>
                <a:b/>
              </a:rPr>
              <a:t>PANDUAN MOBILE PETUGAS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320040" y="548640"/>
            <a:ext cx="6217920" cy="530352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2350">
                <a:solidFill>
                  <a:srgbClr val="1F2937"/>
                </a:solidFill>
                <a:b/>
              </a:rPr>
              <a:t>Ringkasan Backup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320040" y="1124712"/>
            <a:ext cx="6217920" cy="1572768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250">
                <a:solidFill>
                  <a:srgbClr val="1F2937"/>
                </a:solidFill>
              </a:rPr>
              <a:t>Pada menu Backup, bagian atas menampilkan: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Nama petugas yang sedang login.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Total file yang sudah diunggah.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Pemakaian storage dibanding batas 15 GB.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Dua area upload utama: Foto Laporan dan Data Backup.</a:t>
            </a:r>
          </a:p>
        </p:txBody>
      </p:sp>
      <p:pic>
        <p:nvPicPr>
          <p:cNvPr id="5" name="Mobile Screenshot 5"/>
          <p:cNvPicPr/>
          <p:nvPr/>
        </p:nvPicPr>
        <p:blipFill>
          <a:blip r:embed="rId1"/>
          <a:stretch>
            <a:fillRect/>
          </a:stretch>
        </p:blipFill>
        <p:spPr>
          <a:xfrm>
            <a:off x="1331481" y="2743200"/>
            <a:ext cx="4204181" cy="9098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Text 6"/>
          <p:cNvSpPr txBox="1"/>
          <p:nvPr/>
        </p:nvSpPr>
        <p:spPr>
          <a:xfrm>
            <a:off x="320040" y="11850624"/>
            <a:ext cx="6217920" cy="109728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18000" tIns="65000" rIns="118000" bIns="6500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201168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050">
                <a:solidFill>
                  <a:srgbClr val="B45309"/>
                </a:solidFill>
                <a:b/>
              </a:rPr>
              <a:t>PANDUAN MOBILE PETUGAS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320040" y="548640"/>
            <a:ext cx="6217920" cy="530352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2350">
                <a:solidFill>
                  <a:srgbClr val="1F2937"/>
                </a:solidFill>
                <a:b/>
              </a:rPr>
              <a:t>Upload Foto Laporan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320040" y="1124712"/>
            <a:ext cx="6217920" cy="1572768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250">
                <a:solidFill>
                  <a:srgbClr val="1F2937"/>
                </a:solidFill>
              </a:rPr>
              <a:t>Cara upload foto: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Tekan area Upload Foto Laporan.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Pilih foto dari galeri/kamera perangkat.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Format yang didukung: JPG, PNG, WebP, HEIC.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Ukuran maksimal 10 MB.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Isi nama baru bila perlu, lalu tekan Unggah Foto.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Pantau progress sampai berhasil.</a:t>
            </a:r>
          </a:p>
        </p:txBody>
      </p:sp>
      <p:pic>
        <p:nvPicPr>
          <p:cNvPr id="5" name="Mobile Screenshot 5"/>
          <p:cNvPicPr/>
          <p:nvPr/>
        </p:nvPicPr>
        <p:blipFill>
          <a:blip r:embed="rId1"/>
          <a:stretch>
            <a:fillRect/>
          </a:stretch>
        </p:blipFill>
        <p:spPr>
          <a:xfrm>
            <a:off x="1331481" y="2743200"/>
            <a:ext cx="4204181" cy="9098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Text 6"/>
          <p:cNvSpPr txBox="1"/>
          <p:nvPr/>
        </p:nvSpPr>
        <p:spPr>
          <a:xfrm>
            <a:off x="320040" y="11850624"/>
            <a:ext cx="6217920" cy="109728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18000" tIns="65000" rIns="118000" bIns="6500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201168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050">
                <a:solidFill>
                  <a:srgbClr val="B45309"/>
                </a:solidFill>
                <a:b/>
              </a:rPr>
              <a:t>PANDUAN MOBILE PETUGAS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320040" y="548640"/>
            <a:ext cx="6217920" cy="530352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2350">
                <a:solidFill>
                  <a:srgbClr val="1F2937"/>
                </a:solidFill>
                <a:b/>
              </a:rPr>
              <a:t>Upload Data Backup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320040" y="1124712"/>
            <a:ext cx="6217920" cy="1572768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250">
                <a:solidFill>
                  <a:srgbClr val="1F2937"/>
                </a:solidFill>
              </a:rPr>
              <a:t>Cara upload data backup: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Tekan area Upload Data Backup.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Pilih file backup dari perangkat.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Semua ekstensi file dapat dipilih.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Ukuran maksimal 50 MB.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Isi nama baru bila ingin merapikan nama file.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Tekan Unggah Backup dan tunggu proses selesai.</a:t>
            </a:r>
          </a:p>
        </p:txBody>
      </p:sp>
      <p:pic>
        <p:nvPicPr>
          <p:cNvPr id="5" name="Mobile Screenshot 5"/>
          <p:cNvPicPr/>
          <p:nvPr/>
        </p:nvPicPr>
        <p:blipFill>
          <a:blip r:embed="rId1"/>
          <a:stretch>
            <a:fillRect/>
          </a:stretch>
        </p:blipFill>
        <p:spPr>
          <a:xfrm>
            <a:off x="1331481" y="2743200"/>
            <a:ext cx="4204181" cy="9098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Text 6"/>
          <p:cNvSpPr txBox="1"/>
          <p:nvPr/>
        </p:nvSpPr>
        <p:spPr>
          <a:xfrm>
            <a:off x="320040" y="11850624"/>
            <a:ext cx="6217920" cy="109728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18000" tIns="65000" rIns="118000" bIns="6500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201168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050">
                <a:solidFill>
                  <a:srgbClr val="B45309"/>
                </a:solidFill>
                <a:b/>
              </a:rPr>
              <a:t>PANDUAN MOBILE PETUGAS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320040" y="548640"/>
            <a:ext cx="6217920" cy="530352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2350">
                <a:solidFill>
                  <a:srgbClr val="1F2937"/>
                </a:solidFill>
                <a:b/>
              </a:rPr>
              <a:t>File Saya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320040" y="1124712"/>
            <a:ext cx="6217920" cy="1572768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250">
                <a:solidFill>
                  <a:srgbClr val="1F2937"/>
                </a:solidFill>
              </a:rPr>
              <a:t>Bagian File Saya digunakan untuk: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Melihat semua file milik petugas.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Mencari file berdasarkan nama.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Melihat ukuran dan tanggal upload.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Mengakses tombol aksi di sisi kanan atau menu titik tiga pada mode grid.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Berpindah antara mode tabel dan grid.</a:t>
            </a:r>
          </a:p>
        </p:txBody>
      </p:sp>
      <p:pic>
        <p:nvPicPr>
          <p:cNvPr id="5" name="Mobile Screenshot 5"/>
          <p:cNvPicPr/>
          <p:nvPr/>
        </p:nvPicPr>
        <p:blipFill>
          <a:blip r:embed="rId1"/>
          <a:stretch>
            <a:fillRect/>
          </a:stretch>
        </p:blipFill>
        <p:spPr>
          <a:xfrm>
            <a:off x="1331481" y="2743200"/>
            <a:ext cx="4204181" cy="9098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Text 6"/>
          <p:cNvSpPr txBox="1"/>
          <p:nvPr/>
        </p:nvSpPr>
        <p:spPr>
          <a:xfrm>
            <a:off x="320040" y="11850624"/>
            <a:ext cx="6217920" cy="109728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18000" tIns="65000" rIns="118000" bIns="6500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201168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050">
                <a:solidFill>
                  <a:srgbClr val="B45309"/>
                </a:solidFill>
                <a:b/>
              </a:rPr>
              <a:t>PANDUAN MOBILE PETUGAS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320040" y="548640"/>
            <a:ext cx="6217920" cy="530352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2350">
                <a:solidFill>
                  <a:srgbClr val="1F2937"/>
                </a:solidFill>
                <a:b/>
              </a:rPr>
              <a:t>Filter Foto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320040" y="1124712"/>
            <a:ext cx="6217920" cy="1572768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250">
                <a:solidFill>
                  <a:srgbClr val="1F2937"/>
                </a:solidFill>
              </a:rPr>
              <a:t>Filter Foto Laporan menampilkan hanya file gambar: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Tekan tab/icon Foto Laporan.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Tampilan grid memudahkan cek thumbnail foto.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Gunakan pencarian bila nama file banyak.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Menu titik tiga pada kartu file dipakai untuk aksi lanjutan.</a:t>
            </a:r>
          </a:p>
        </p:txBody>
      </p:sp>
      <p:pic>
        <p:nvPicPr>
          <p:cNvPr id="5" name="Mobile Screenshot 5"/>
          <p:cNvPicPr/>
          <p:nvPr/>
        </p:nvPicPr>
        <p:blipFill>
          <a:blip r:embed="rId1"/>
          <a:stretch>
            <a:fillRect/>
          </a:stretch>
        </p:blipFill>
        <p:spPr>
          <a:xfrm>
            <a:off x="1331481" y="2743200"/>
            <a:ext cx="4204181" cy="9098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Text 6"/>
          <p:cNvSpPr txBox="1"/>
          <p:nvPr/>
        </p:nvSpPr>
        <p:spPr>
          <a:xfrm>
            <a:off x="320040" y="11850624"/>
            <a:ext cx="6217920" cy="109728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18000" tIns="65000" rIns="118000" bIns="6500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201168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050">
                <a:solidFill>
                  <a:srgbClr val="B45309"/>
                </a:solidFill>
                <a:b/>
              </a:rPr>
              <a:t>PANDUAN MOBILE PETUGAS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320040" y="548640"/>
            <a:ext cx="6217920" cy="530352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2350">
                <a:solidFill>
                  <a:srgbClr val="1F2937"/>
                </a:solidFill>
                <a:b/>
              </a:rPr>
              <a:t>Filter Backup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320040" y="1124712"/>
            <a:ext cx="6217920" cy="1572768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250">
                <a:solidFill>
                  <a:srgbClr val="1F2937"/>
                </a:solidFill>
              </a:rPr>
              <a:t>Filter Data Backup menampilkan hanya file backup: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Tekan tab/icon Data Backup.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Jika belum ada file backup, sistem menampilkan status kosong.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Setelah upload backup berhasil, file muncul pada daftar ini.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Gunakan filter ini untuk memisahkan foto dan dokumen backup.</a:t>
            </a:r>
          </a:p>
        </p:txBody>
      </p:sp>
      <p:pic>
        <p:nvPicPr>
          <p:cNvPr id="5" name="Mobile Screenshot 5"/>
          <p:cNvPicPr/>
          <p:nvPr/>
        </p:nvPicPr>
        <p:blipFill>
          <a:blip r:embed="rId1"/>
          <a:stretch>
            <a:fillRect/>
          </a:stretch>
        </p:blipFill>
        <p:spPr>
          <a:xfrm>
            <a:off x="1331481" y="2743200"/>
            <a:ext cx="4204181" cy="9098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Text 6"/>
          <p:cNvSpPr txBox="1"/>
          <p:nvPr/>
        </p:nvSpPr>
        <p:spPr>
          <a:xfrm>
            <a:off x="320040" y="11850624"/>
            <a:ext cx="6217920" cy="109728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18000" tIns="65000" rIns="118000" bIns="6500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201168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050">
                <a:solidFill>
                  <a:srgbClr val="B45309"/>
                </a:solidFill>
                <a:b/>
              </a:rPr>
              <a:t>PANDUAN MOBILE PETUGAS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320040" y="548640"/>
            <a:ext cx="6217920" cy="530352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2350">
                <a:solidFill>
                  <a:srgbClr val="1F2937"/>
                </a:solidFill>
                <a:b/>
              </a:rPr>
              <a:t>Aksi File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320040" y="1124712"/>
            <a:ext cx="6217920" cy="1572768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250">
                <a:solidFill>
                  <a:srgbClr val="1F2937"/>
                </a:solidFill>
              </a:rPr>
              <a:t>Aksi yang tersedia pada file: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Buka Drive untuk melihat file di Google Drive jika link tersedia.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Download untuk mengunduh file kembali.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Hapus untuk menghapus file dari daftar dan Drive.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Gunakan aksi hapus dengan hati-hati karena file dapat hilang permanen.</a:t>
            </a:r>
          </a:p>
        </p:txBody>
      </p:sp>
      <p:pic>
        <p:nvPicPr>
          <p:cNvPr id="5" name="Mobile Screenshot 5"/>
          <p:cNvPicPr/>
          <p:nvPr/>
        </p:nvPicPr>
        <p:blipFill>
          <a:blip r:embed="rId1"/>
          <a:stretch>
            <a:fillRect/>
          </a:stretch>
        </p:blipFill>
        <p:spPr>
          <a:xfrm>
            <a:off x="1331481" y="2743200"/>
            <a:ext cx="4204181" cy="9098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Text 6"/>
          <p:cNvSpPr txBox="1"/>
          <p:nvPr/>
        </p:nvSpPr>
        <p:spPr>
          <a:xfrm>
            <a:off x="320040" y="11850624"/>
            <a:ext cx="6217920" cy="109728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18000" tIns="65000" rIns="118000" bIns="6500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201168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050">
                <a:solidFill>
                  <a:srgbClr val="B45309"/>
                </a:solidFill>
                <a:b/>
              </a:rPr>
              <a:t>PANDUAN MOBILE PETUGAS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320040" y="548640"/>
            <a:ext cx="6217920" cy="530352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2350">
                <a:solidFill>
                  <a:srgbClr val="1F2937"/>
                </a:solidFill>
                <a:b/>
              </a:rPr>
              <a:t>Monitoring SBR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320040" y="1124712"/>
            <a:ext cx="6217920" cy="1572768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250">
                <a:solidFill>
                  <a:srgbClr val="1F2937"/>
                </a:solidFill>
              </a:rPr>
              <a:t>Menu SBR digunakan untuk pekerjaan monitoring usaha: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Menampilkan nama petugas.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Menampilkan wilayah tugas yang sudah ditetapkan admin.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Menyediakan kolom pencarian ID SBR atau nama usaha.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Menampilkan tabel daftar usaha sesuai wilayah tugas.</a:t>
            </a:r>
          </a:p>
        </p:txBody>
      </p:sp>
      <p:pic>
        <p:nvPicPr>
          <p:cNvPr id="5" name="Mobile Screenshot 5"/>
          <p:cNvPicPr/>
          <p:nvPr/>
        </p:nvPicPr>
        <p:blipFill>
          <a:blip r:embed="rId1"/>
          <a:stretch>
            <a:fillRect/>
          </a:stretch>
        </p:blipFill>
        <p:spPr>
          <a:xfrm>
            <a:off x="1331481" y="2743200"/>
            <a:ext cx="4204181" cy="9098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Text 6"/>
          <p:cNvSpPr txBox="1"/>
          <p:nvPr/>
        </p:nvSpPr>
        <p:spPr>
          <a:xfrm>
            <a:off x="320040" y="11850624"/>
            <a:ext cx="6217920" cy="109728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18000" tIns="65000" rIns="118000" bIns="6500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201168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050">
                <a:solidFill>
                  <a:srgbClr val="B45309"/>
                </a:solidFill>
                <a:b/>
              </a:rPr>
              <a:t>PANDUAN MOBILE PETUGAS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320040" y="548640"/>
            <a:ext cx="6217920" cy="530352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2350">
                <a:solidFill>
                  <a:srgbClr val="1F2937"/>
                </a:solidFill>
                <a:b/>
              </a:rPr>
              <a:t>Daftar Usaha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320040" y="1124712"/>
            <a:ext cx="6217920" cy="1572768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250">
                <a:solidFill>
                  <a:srgbClr val="1F2937"/>
                </a:solidFill>
              </a:rPr>
              <a:t>Pada tabel usaha, petugas dapat melihat: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Nomor urut.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ID SBR.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Nama usaha.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Status pencatatan.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Desa, kecamatan, dan alamat.</a:t>
            </a:r>
          </a:p>
          <a:p/>
          <a:p>
            <a:r>
              <a:rPr lang="id-ID" sz="1250">
                <a:solidFill>
                  <a:srgbClr val="1F2937"/>
                </a:solidFill>
              </a:rPr>
              <a:t>Pada layar HP, tabel dapat digeser horizontal untuk melihat kolom kanan.</a:t>
            </a:r>
          </a:p>
        </p:txBody>
      </p:sp>
      <p:pic>
        <p:nvPicPr>
          <p:cNvPr id="5" name="Mobile Screenshot 5"/>
          <p:cNvPicPr/>
          <p:nvPr/>
        </p:nvPicPr>
        <p:blipFill>
          <a:blip r:embed="rId1"/>
          <a:stretch>
            <a:fillRect/>
          </a:stretch>
        </p:blipFill>
        <p:spPr>
          <a:xfrm>
            <a:off x="1331481" y="2743200"/>
            <a:ext cx="4204181" cy="9098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Text 6"/>
          <p:cNvSpPr txBox="1"/>
          <p:nvPr/>
        </p:nvSpPr>
        <p:spPr>
          <a:xfrm>
            <a:off x="320040" y="11850624"/>
            <a:ext cx="6217920" cy="109728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18000" tIns="65000" rIns="118000" bIns="6500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201168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050">
                <a:solidFill>
                  <a:srgbClr val="B45309"/>
                </a:solidFill>
                <a:b/>
              </a:rPr>
              <a:t>PANDUAN MOBILE PETUGAS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320040" y="548640"/>
            <a:ext cx="6217920" cy="530352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2350">
                <a:solidFill>
                  <a:srgbClr val="1F2937"/>
                </a:solidFill>
                <a:b/>
              </a:rPr>
              <a:t>Pencarian Usaha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320040" y="1124712"/>
            <a:ext cx="6217920" cy="1572768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250">
                <a:solidFill>
                  <a:srgbClr val="1F2937"/>
                </a:solidFill>
              </a:rPr>
              <a:t>Cara mencari usaha: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Buka menu SBR.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Ketik ID SBR atau nama usaha pada kolom pencarian.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Sistem menampilkan hasil yang cocok.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Gunakan pencarian saat daftar usaha panjang atau saat mencari usaha tertentu di lapangan.</a:t>
            </a:r>
          </a:p>
        </p:txBody>
      </p:sp>
      <p:pic>
        <p:nvPicPr>
          <p:cNvPr id="5" name="Mobile Screenshot 5"/>
          <p:cNvPicPr/>
          <p:nvPr/>
        </p:nvPicPr>
        <p:blipFill>
          <a:blip r:embed="rId1"/>
          <a:stretch>
            <a:fillRect/>
          </a:stretch>
        </p:blipFill>
        <p:spPr>
          <a:xfrm>
            <a:off x="1331481" y="2743200"/>
            <a:ext cx="4204181" cy="9098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Text 6"/>
          <p:cNvSpPr txBox="1"/>
          <p:nvPr/>
        </p:nvSpPr>
        <p:spPr>
          <a:xfrm>
            <a:off x="320040" y="11850624"/>
            <a:ext cx="6217920" cy="109728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18000" tIns="65000" rIns="118000" bIns="6500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201168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050">
                <a:solidFill>
                  <a:srgbClr val="B45309"/>
                </a:solidFill>
                <a:b/>
              </a:rPr>
              <a:t>PANDUAN MOBILE PETUGAS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320040" y="548640"/>
            <a:ext cx="6217920" cy="530352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2350">
                <a:solidFill>
                  <a:srgbClr val="1F2937"/>
                </a:solidFill>
                <a:b/>
              </a:rPr>
              <a:t>Update Status SBR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320040" y="1124712"/>
            <a:ext cx="6217920" cy="1572768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250">
                <a:solidFill>
                  <a:srgbClr val="1F2937"/>
                </a:solidFill>
              </a:rPr>
              <a:t>Cara memperbarui status: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Temukan usaha melalui daftar atau pencarian.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Buka kontrol status pada baris usaha.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Pilih status sesuai kondisi: Aktif, Tidak Aktif, Pindah, atau Tidak Ditemukan.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Isi catatan bila diperlukan.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Simpan, lalu pastikan label status berubah.</a:t>
            </a:r>
          </a:p>
        </p:txBody>
      </p:sp>
      <p:pic>
        <p:nvPicPr>
          <p:cNvPr id="5" name="Mobile Screenshot 5"/>
          <p:cNvPicPr/>
          <p:nvPr/>
        </p:nvPicPr>
        <p:blipFill>
          <a:blip r:embed="rId1"/>
          <a:stretch>
            <a:fillRect/>
          </a:stretch>
        </p:blipFill>
        <p:spPr>
          <a:xfrm>
            <a:off x="1331481" y="2743200"/>
            <a:ext cx="4204181" cy="9098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Text 6"/>
          <p:cNvSpPr txBox="1"/>
          <p:nvPr/>
        </p:nvSpPr>
        <p:spPr>
          <a:xfrm>
            <a:off x="320040" y="11850624"/>
            <a:ext cx="6217920" cy="109728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18000" tIns="65000" rIns="118000" bIns="6500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201168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050">
                <a:solidFill>
                  <a:srgbClr val="B45309"/>
                </a:solidFill>
                <a:b/>
              </a:rPr>
              <a:t>PANDUAN MOBILE PETUGAS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320040" y="548640"/>
            <a:ext cx="6217920" cy="530352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2350">
                <a:solidFill>
                  <a:srgbClr val="1F2937"/>
                </a:solidFill>
                <a:b/>
              </a:rPr>
              <a:t>Tanya KonDef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320040" y="1124712"/>
            <a:ext cx="6217920" cy="1572768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250">
                <a:solidFill>
                  <a:srgbClr val="1F2937"/>
                </a:solidFill>
              </a:rPr>
              <a:t>Menu Tanya KonDef digunakan untuk referensi cepat: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Buka menu Tanya pada navigasi bawah.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Tekan Buka Sekarang.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Sistem membuka notebook referensi di tab baru.</a:t>
            </a:r>
          </a:p>
          <a:p>
            <a:pPr marL="228600" indent="-137160">
              <a:buChar char="•"/>
            </a:pPr>
            <a:r>
              <a:rPr lang="id-ID" sz="1250">
                <a:solidFill>
                  <a:srgbClr val="1F2937"/>
                </a:solidFill>
              </a:rPr>
              <a:t>Gunakan saat perlu memastikan konsep, definisi, atau perlakuan pencatatan.</a:t>
            </a:r>
          </a:p>
        </p:txBody>
      </p:sp>
      <p:pic>
        <p:nvPicPr>
          <p:cNvPr id="5" name="Mobile Screenshot 5"/>
          <p:cNvPicPr/>
          <p:nvPr/>
        </p:nvPicPr>
        <p:blipFill>
          <a:blip r:embed="rId1"/>
          <a:stretch>
            <a:fillRect/>
          </a:stretch>
        </p:blipFill>
        <p:spPr>
          <a:xfrm>
            <a:off x="1331481" y="2743200"/>
            <a:ext cx="4204181" cy="909828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Text 6"/>
          <p:cNvSpPr txBox="1"/>
          <p:nvPr/>
        </p:nvSpPr>
        <p:spPr>
          <a:xfrm>
            <a:off x="320040" y="11850624"/>
            <a:ext cx="6217920" cy="109728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18000" tIns="65000" rIns="118000" bIns="6500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201168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050">
                <a:solidFill>
                  <a:srgbClr val="B45309"/>
                </a:solidFill>
                <a:b/>
              </a:rPr>
              <a:t>PANDUAN MOBILE PETUGAS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320040" y="548640"/>
            <a:ext cx="6217920" cy="530352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2350">
                <a:solidFill>
                  <a:srgbClr val="1F2937"/>
                </a:solidFill>
                <a:b/>
              </a:rPr>
              <a:t>Tips Lapangan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38912" y="1417320"/>
            <a:ext cx="5980176" cy="8961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18000" tIns="65000" rIns="118000" bIns="65000"/>
          <a:lstStyle/>
          <a:p>
            <a:r>
              <a:rPr lang="id-ID" sz="1700">
                <a:solidFill>
                  <a:srgbClr val="1F2937"/>
                </a:solidFill>
              </a:rPr>
              <a:t>Tips penggunaan mobile:</a:t>
            </a:r>
          </a:p>
          <a:p>
            <a:pPr marL="228600" indent="-137160">
              <a:buChar char="•"/>
            </a:pPr>
            <a:r>
              <a:rPr lang="id-ID" sz="1700">
                <a:solidFill>
                  <a:srgbClr val="1F2937"/>
                </a:solidFill>
              </a:rPr>
              <a:t>Pastikan akun Google yang dipakai adalah akun terdaftar.</a:t>
            </a:r>
          </a:p>
          <a:p>
            <a:pPr marL="228600" indent="-137160">
              <a:buChar char="•"/>
            </a:pPr>
            <a:r>
              <a:rPr lang="id-ID" sz="1700">
                <a:solidFill>
                  <a:srgbClr val="1F2937"/>
                </a:solidFill>
              </a:rPr>
              <a:t>Gunakan koneksi stabil saat upload file besar.</a:t>
            </a:r>
          </a:p>
          <a:p>
            <a:pPr marL="228600" indent="-137160">
              <a:buChar char="•"/>
            </a:pPr>
            <a:r>
              <a:rPr lang="id-ID" sz="1700">
                <a:solidFill>
                  <a:srgbClr val="1F2937"/>
                </a:solidFill>
              </a:rPr>
              <a:t>Beri nama file yang mudah dikenali.</a:t>
            </a:r>
          </a:p>
          <a:p>
            <a:pPr marL="228600" indent="-137160">
              <a:buChar char="•"/>
            </a:pPr>
            <a:r>
              <a:rPr lang="id-ID" sz="1700">
                <a:solidFill>
                  <a:srgbClr val="1F2937"/>
                </a:solidFill>
              </a:rPr>
              <a:t>Cek kembali filter Foto dan Backup setelah upload.</a:t>
            </a:r>
          </a:p>
          <a:p>
            <a:pPr marL="228600" indent="-137160">
              <a:buChar char="•"/>
            </a:pPr>
            <a:r>
              <a:rPr lang="id-ID" sz="1700">
                <a:solidFill>
                  <a:srgbClr val="1F2937"/>
                </a:solidFill>
              </a:rPr>
              <a:t>Gunakan pencarian SBR sebelum mengubah status.</a:t>
            </a:r>
          </a:p>
          <a:p>
            <a:pPr marL="228600" indent="-137160">
              <a:buChar char="•"/>
            </a:pPr>
            <a:r>
              <a:rPr lang="id-ID" sz="1700">
                <a:solidFill>
                  <a:srgbClr val="1F2937"/>
                </a:solidFill>
              </a:rPr>
              <a:t>Periksa status usaha setelah menyimpan perubahan.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320040" y="11850624"/>
            <a:ext cx="6217920" cy="109728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18000" tIns="65000" rIns="118000" bIns="6500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320040" y="201168"/>
            <a:ext cx="6217920" cy="320040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1050">
                <a:solidFill>
                  <a:srgbClr val="B45309"/>
                </a:solidFill>
                <a:b/>
              </a:rPr>
              <a:t>PANDUAN MOBILE PETUGAS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320040" y="548640"/>
            <a:ext cx="6217920" cy="530352"/>
          </a:xfrm>
          <a:prstGeom prst="rect">
            <a:avLst/>
          </a:prstGeom>
          <a:noFill/>
          <a:ln>
            <a:noFill/>
          </a:ln>
        </p:spPr>
        <p:txBody>
          <a:bodyPr wrap="square" lIns="118000" tIns="65000" rIns="118000" bIns="65000"/>
          <a:lstStyle/>
          <a:p>
            <a:r>
              <a:rPr lang="id-ID" sz="2350">
                <a:solidFill>
                  <a:srgbClr val="1F2937"/>
                </a:solidFill>
                <a:b/>
              </a:rPr>
              <a:t>Penutup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38912" y="1417320"/>
            <a:ext cx="5980176" cy="8961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lIns="118000" tIns="65000" rIns="118000" bIns="65000"/>
          <a:lstStyle/>
          <a:p>
            <a:r>
              <a:rPr lang="id-ID" sz="1700">
                <a:solidFill>
                  <a:srgbClr val="1F2937"/>
                </a:solidFill>
              </a:rPr>
              <a:t>Panduan ini berfokus pada pekerjaan Petugas melalui tampilan mobile.</a:t>
            </a:r>
          </a:p>
          <a:p/>
          <a:p>
            <a:r>
              <a:rPr lang="id-ID" sz="1700">
                <a:solidFill>
                  <a:srgbClr val="1F2937"/>
                </a:solidFill>
              </a:rPr>
              <a:t>Ringkasnya:</a:t>
            </a:r>
          </a:p>
          <a:p>
            <a:pPr marL="228600" indent="-137160">
              <a:buChar char="•"/>
            </a:pPr>
            <a:r>
              <a:rPr lang="id-ID" sz="1700">
                <a:solidFill>
                  <a:srgbClr val="1F2937"/>
                </a:solidFill>
              </a:rPr>
              <a:t>Login dengan Google.</a:t>
            </a:r>
          </a:p>
          <a:p>
            <a:pPr marL="228600" indent="-137160">
              <a:buChar char="•"/>
            </a:pPr>
            <a:r>
              <a:rPr lang="id-ID" sz="1700">
                <a:solidFill>
                  <a:srgbClr val="1F2937"/>
                </a:solidFill>
              </a:rPr>
              <a:t>Upload foto dan file backup melalui menu Backup.</a:t>
            </a:r>
          </a:p>
          <a:p>
            <a:pPr marL="228600" indent="-137160">
              <a:buChar char="•"/>
            </a:pPr>
            <a:r>
              <a:rPr lang="id-ID" sz="1700">
                <a:solidFill>
                  <a:srgbClr val="1F2937"/>
                </a:solidFill>
              </a:rPr>
              <a:t>Kelola file pada File Saya.</a:t>
            </a:r>
          </a:p>
          <a:p>
            <a:pPr marL="228600" indent="-137160">
              <a:buChar char="•"/>
            </a:pPr>
            <a:r>
              <a:rPr lang="id-ID" sz="1700">
                <a:solidFill>
                  <a:srgbClr val="1F2937"/>
                </a:solidFill>
              </a:rPr>
              <a:t>Cari dan update status usaha melalui menu SBR.</a:t>
            </a:r>
          </a:p>
          <a:p>
            <a:pPr marL="228600" indent="-137160">
              <a:buChar char="•"/>
            </a:pPr>
            <a:r>
              <a:rPr lang="id-ID" sz="1700">
                <a:solidFill>
                  <a:srgbClr val="1F2937"/>
                </a:solidFill>
              </a:rPr>
              <a:t>Gunakan Tanya KonDef untuk rujukan konsep.</a:t>
            </a:r>
          </a:p>
          <a:p/>
          <a:p>
            <a:r>
              <a:rPr lang="id-ID" sz="1700">
                <a:solidFill>
                  <a:srgbClr val="1F2937"/>
                </a:solidFill>
              </a:rPr>
              <a:t>Terima kasih.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320040" y="11850624"/>
            <a:ext cx="6217920" cy="109728"/>
          </a:xfrm>
          <a:prstGeom prst="rect">
            <a:avLst/>
          </a:prstGeom>
          <a:solidFill>
            <a:srgbClr val="F68B24"/>
          </a:solidFill>
          <a:ln w="9525">
            <a:solidFill>
              <a:srgbClr val="F68B24"/>
            </a:solidFill>
          </a:ln>
        </p:spPr>
        <p:txBody>
          <a:bodyPr wrap="square" lIns="118000" tIns="65000" rIns="118000" bIns="6500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sisten Mobile">
  <a:themeElements>
    <a:clrScheme name="Asisten">
      <a:dk1>
        <a:srgbClr val="1F2937"/>
      </a:dk1>
      <a:lt1>
        <a:srgbClr val="FFFFFF"/>
      </a:lt1>
      <a:dk2>
        <a:srgbClr val="334155"/>
      </a:dk2>
      <a:lt2>
        <a:srgbClr val="F8FAFC"/>
      </a:lt2>
      <a:accent1>
        <a:srgbClr val="F68B24"/>
      </a:accent1>
      <a:accent2>
        <a:srgbClr val="2563EB"/>
      </a:accent2>
      <a:accent3>
        <a:srgbClr val="16A34A"/>
      </a:accent3>
      <a:accent4>
        <a:srgbClr val="FBBF24"/>
      </a:accent4>
      <a:accent5>
        <a:srgbClr val="F43F5E"/>
      </a:accent5>
      <a:accent6>
        <a:srgbClr val="64748B"/>
      </a:accent6>
      <a:hlink>
        <a:srgbClr val="2563EB"/>
      </a:hlink>
      <a:folHlink>
        <a:srgbClr val="7C3AED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Slides>18</Slides>
</Properties>
</file>

<file path=docProps/core.xml><?xml version="1.0" encoding="utf-8"?>
<cp:coreProperties xmlns:cp="http://schemas.openxmlformats.org/package/2006/metadata/core-properties" xmlns:dc="http://purl.org/dc/elements/1.1/">
  <dc:title>Panduan Mobile Petugas ASISTEN SE2026</dc:title>
  <dc:creator>Codex</dc:creator>
  <cp:lastModifiedBy>Codex</cp:lastModifiedBy>
</cp:coreProperties>
</file>